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2452241"/>
            <a:ext cx="21717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918966"/>
            <a:ext cx="9501187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oppins"/>
              </a:rPr>
              <a:t>Predicting Taxi Trip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662808"/>
            <a:ext cx="904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Lato"/>
              </a:rPr>
              <a:t>A real-time, deployment-safe regression engine for NYC Yellow Taxi ETA estimation at the exact moment of request.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83681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80535" y="3050381"/>
            <a:ext cx="743092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oppins"/>
              </a:rPr>
              <a:t>Problem Statement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7062" y="3945731"/>
            <a:ext cx="58578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Lato"/>
              </a:rPr>
              <a:t>Aligning predictive machine learning with business value and operational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4150"/>
            <a:ext cx="53340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38475"/>
            <a:ext cx="4940617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Core Business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86150"/>
            <a:ext cx="4705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Deliver an accurate estimated time of arrival (ETA) to passenger apps prior to trip confirmation. Precise predictions minimize ride cancellations, improve fleet dispatching efficiency, and maximize driver utilization.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038475"/>
            <a:ext cx="4940617" cy="333375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Asymmetric Cost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86150"/>
            <a:ext cx="4705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Underpredicting duration breaks rider trust and leads to missed appointments. Overpredicting leads to booking drop-offs as riders perceive the service as overly slow. The loss function must account for these non-symmetric operational risks.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861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086100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Business Drivers &amp; User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3675"/>
            <a:ext cx="5334000" cy="2143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114675"/>
            <a:ext cx="4953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FFFFFF"/>
                </a:solidFill>
                <a:latin typeface="Poppins"/>
              </a:rPr>
              <a:t>1.2M+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38625"/>
            <a:ext cx="4953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E0F2FE"/>
                </a:solidFill>
                <a:latin typeface="Lato SemiBold"/>
              </a:rPr>
              <a:t>Filtered NYC Taxi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59556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Rigorous Data Audit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43237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Using 6 months of NYC TLC Yellow Taxi records (Jan–Jun 2023), we implemented strict filtering rules to maintain high data integrity: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3643312"/>
            <a:ext cx="50482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Removed null pickup timestamps and unmapped taxi zones.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019550"/>
            <a:ext cx="50482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Filtered out zero/negative trip durations and GPS anomalies.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395787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Excluded near-certain cancellations (&lt; 1 min) and extreme outliers (&gt; 180 min).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Dataset &amp; Quality Standards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6623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03860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414837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284C7"/>
                </a:solidFill>
                <a:latin typeface="Poppins"/>
              </a:rPr>
              <a:t>Data Leakage Prevention Audit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1047750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478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Known at Booking: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Pickup/Dropoff Zone IDs, request timestamp, day of week, scheduled hour, passenger count.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148590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94322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Post-Trip Data: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Meter fare, dropoff timestamp, actual route trajectory, toll amount, tip amount.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43300"/>
            <a:ext cx="14097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3838575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Historical Aggregates: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Historic hourly zone traffic speed, spatial Haversine distance between zone centroids.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66093"/>
            <a:ext cx="5656775" cy="3636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9806"/>
            <a:ext cx="3505200" cy="3090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59806"/>
            <a:ext cx="3505200" cy="3090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259806"/>
            <a:ext cx="3505200" cy="30908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36031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98031"/>
            <a:ext cx="249031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Temporal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45706"/>
            <a:ext cx="29527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Cyclical encoding (sine/cosine transforms) of pickup hour and day of week. Captures rush hour peaks and weekend night patterns without artificial boundary discontinuities.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2536031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9625" y="3298031"/>
            <a:ext cx="20202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Spatial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45706"/>
            <a:ext cx="295275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Haversine distance and Manhattan distance computed between TLC pickup and dropoff zone centroids, serving as a primary linear baseline proxy for trip extent.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536031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298031"/>
            <a:ext cx="21002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oppins SemiBold"/>
              </a:rPr>
              <a:t>Zone Aggregates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45706"/>
            <a:ext cx="29527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Target-encoded historical congestion index per location pair, updated on rolling window basis to reflect real-time traffic speeds without future leakage.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669381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2" y="2669381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875" y="2669381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Feature Engineering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33837"/>
            <a:ext cx="2541240" cy="1236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527101"/>
            <a:ext cx="2541240" cy="1049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33837"/>
            <a:ext cx="2541240" cy="1049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527101"/>
            <a:ext cx="2541240" cy="10495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861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475" y="4214812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oppins"/>
              </a:rPr>
              <a:t>1. Temporal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529137"/>
            <a:ext cx="21792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Train on Jan–Apr, validate on May, test on Jun to mirror real-time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8394" y="270807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oppins"/>
              </a:rPr>
              <a:t>2. Linear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3022401"/>
            <a:ext cx="21792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Benchmark mean predictor, Ridge, and Lasso regression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314" y="4214812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oppins"/>
              </a:rPr>
              <a:t>3. Tree Ensembles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529137"/>
            <a:ext cx="21792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Train LightGBM and XGBoost models on log-transformed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0234" y="270807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oppins"/>
              </a:rPr>
              <a:t>4.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3022401"/>
            <a:ext cx="21792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Tune hyperparameters focusing on Mean Absolute Error (MAE).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6395" y="37195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92315" y="37195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28234" y="37195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64154" y="37195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Validation &amp; Modeling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22018"/>
            <a:ext cx="11049000" cy="5095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Model Benchmarks &amp;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4150"/>
            <a:ext cx="53340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38475"/>
            <a:ext cx="4940617" cy="3333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Primary Predictive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86150"/>
            <a:ext cx="47053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SHAP analysis confirms that centroid distance and historical zone speed dominate feature attribution. Dropoff zone location exhibits higher variance influence than pickup zone during peak evening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038475"/>
            <a:ext cx="4940617" cy="33337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Temporal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86150"/>
            <a:ext cx="47053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Pickup hour acts as a critical non-linear multiplier on spatial distance. Distance gains 2.4x higher weight during morning rush hours (7-9 AM) compared to late-night trips.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861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086100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Feature Importance &amp; SHAP Drivers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12206"/>
          <a:ext cx="11048998" cy="2786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2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721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Distance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XGBoost MAE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Baseline MAE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Error Reduction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Short (&lt; 2 miles)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8.4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1.45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3.80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Lato"/>
                        </a:rPr>
                        <a:t>61.8%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Medium (2–5 miles)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16.2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2.80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6.10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Lato"/>
                        </a:rPr>
                        <a:t>54.1%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Long (5–10 miles)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29.5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4.35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9.80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Lato"/>
                        </a:rPr>
                        <a:t>55.6%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14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Airport / Far (&gt; 10 mi)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48.1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5.90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Lato"/>
                        </a:rPr>
                        <a:t>14.20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Lato"/>
                        </a:rPr>
                        <a:t>58.5%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955131"/>
            <a:ext cx="2617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88940" y="2955131"/>
            <a:ext cx="202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14491" y="2955131"/>
            <a:ext cx="2064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79481" y="2955131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18277" y="2955131"/>
            <a:ext cx="23022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512343"/>
            <a:ext cx="2617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88940" y="3512343"/>
            <a:ext cx="202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4491" y="3512343"/>
            <a:ext cx="2064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79481" y="3512343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18277" y="3512343"/>
            <a:ext cx="23022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069556"/>
            <a:ext cx="2617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88940" y="4069556"/>
            <a:ext cx="202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4491" y="4069556"/>
            <a:ext cx="2064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79481" y="4069556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18277" y="4069556"/>
            <a:ext cx="23022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626768"/>
            <a:ext cx="2617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88940" y="4626768"/>
            <a:ext cx="202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4491" y="4626768"/>
            <a:ext cx="2064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79481" y="4626768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18277" y="4626768"/>
            <a:ext cx="23022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5183981"/>
            <a:ext cx="2617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88940" y="5183981"/>
            <a:ext cx="2025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4491" y="5183981"/>
            <a:ext cx="2064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79481" y="5183981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18277" y="5183981"/>
            <a:ext cx="23022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Performance Across Distance Tiers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95487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Low-Latency REST API: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Containerized ONNX runtime deployed via FastAPI handles peak loads exceeding 2,500 req/sec.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614612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Sub-20ms Inference: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Pre-calculated spatial lookups in Redis enable sub-20 millisecond p99 response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233737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Drift Monitoring: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Continuous monitoring of input feature distribution (KS-test) and daily MAE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52862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Graceful Fallback: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Automatic failover to historical zone-pair median lookup if feature service fails.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oppins"/>
              </a:rPr>
              <a:t>Production Deployment Architecture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1453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3366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52787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1912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4071937"/>
            <a:ext cx="510540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252662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71862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Lato"/>
              </a:rPr>
              <a:t>Predicting Taxi Trip Duration at the Moment of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617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Saad Abbasi</cp:lastModifiedBy>
  <cp:revision>2</cp:revision>
  <dcterms:created xsi:type="dcterms:W3CDTF">2013-01-27T09:14:16Z</dcterms:created>
  <dcterms:modified xsi:type="dcterms:W3CDTF">2026-07-25T15:31:14Z</dcterms:modified>
  <cp:category/>
</cp:coreProperties>
</file>